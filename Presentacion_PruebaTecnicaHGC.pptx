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Inter Bold" charset="1" panose="020B0802030000000004"/>
      <p:regular r:id="rId14"/>
    </p:embeddedFont>
    <p:embeddedFont>
      <p:font typeface="Inter" charset="1" panose="020B05020300000000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Relationship Id="rId7" Target="../media/image12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6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5.pn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19.png" Type="http://schemas.openxmlformats.org/officeDocument/2006/relationships/image"/><Relationship Id="rId7" Target="../media/image2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053" y="1438275"/>
            <a:ext cx="18157894" cy="7130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77"/>
              </a:lnSpc>
            </a:pPr>
            <a:r>
              <a:rPr lang="en-US" b="true" sz="34444" spc="-4064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VALOR</a:t>
            </a:r>
          </a:p>
          <a:p>
            <a:pPr algn="ctr" marL="0" indent="0" lvl="0">
              <a:lnSpc>
                <a:spcPts val="26177"/>
              </a:lnSpc>
            </a:pPr>
            <a:r>
              <a:rPr lang="en-US" b="true" sz="34444" spc="-4064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DEL CAFE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161202" y="3428399"/>
            <a:ext cx="9965595" cy="7880486"/>
          </a:xfrm>
          <a:custGeom>
            <a:avLst/>
            <a:gdLst/>
            <a:ahLst/>
            <a:cxnLst/>
            <a:rect r="r" b="b" t="t" l="l"/>
            <a:pathLst>
              <a:path h="7880486" w="9965595">
                <a:moveTo>
                  <a:pt x="0" y="0"/>
                </a:moveTo>
                <a:lnTo>
                  <a:pt x="9965596" y="0"/>
                </a:lnTo>
                <a:lnTo>
                  <a:pt x="9965596" y="7880486"/>
                </a:lnTo>
                <a:lnTo>
                  <a:pt x="0" y="78804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10800000">
            <a:off x="4424361" y="-3940243"/>
            <a:ext cx="9965595" cy="7880486"/>
          </a:xfrm>
          <a:custGeom>
            <a:avLst/>
            <a:gdLst/>
            <a:ahLst/>
            <a:cxnLst/>
            <a:rect r="r" b="b" t="t" l="l"/>
            <a:pathLst>
              <a:path h="7880486" w="9965595">
                <a:moveTo>
                  <a:pt x="9965595" y="0"/>
                </a:moveTo>
                <a:lnTo>
                  <a:pt x="0" y="0"/>
                </a:lnTo>
                <a:lnTo>
                  <a:pt x="0" y="7880486"/>
                </a:lnTo>
                <a:lnTo>
                  <a:pt x="9965595" y="7880486"/>
                </a:lnTo>
                <a:lnTo>
                  <a:pt x="9965595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5186126" y="9305859"/>
            <a:ext cx="2513344" cy="43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674"/>
              </a:lnSpc>
            </a:pPr>
            <a:r>
              <a:rPr lang="en-US" b="true" sz="1800" spc="-54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POR: DANIEL CAMILO BERNAL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88530" y="9305859"/>
            <a:ext cx="2513344" cy="433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4"/>
              </a:lnSpc>
            </a:pPr>
            <a:r>
              <a:rPr lang="en-US" b="true" sz="1800" spc="-54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RETO TECNICO</a:t>
            </a:r>
          </a:p>
          <a:p>
            <a:pPr algn="l" marL="0" indent="0" lvl="0">
              <a:lnSpc>
                <a:spcPts val="1674"/>
              </a:lnSpc>
            </a:pPr>
            <a:r>
              <a:rPr lang="en-US" b="true" sz="1800" spc="-54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HIGH GARDEN COFFEE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46905" y="5143500"/>
            <a:ext cx="7931544" cy="2958790"/>
            <a:chOff x="0" y="0"/>
            <a:chExt cx="10575393" cy="3945054"/>
          </a:xfrm>
        </p:grpSpPr>
        <p:sp>
          <p:nvSpPr>
            <p:cNvPr name="AutoShape 3" id="3"/>
            <p:cNvSpPr/>
            <p:nvPr/>
          </p:nvSpPr>
          <p:spPr>
            <a:xfrm>
              <a:off x="0" y="3932354"/>
              <a:ext cx="10575393" cy="0"/>
            </a:xfrm>
            <a:prstGeom prst="line">
              <a:avLst/>
            </a:prstGeom>
            <a:ln cap="flat" w="25400">
              <a:solidFill>
                <a:srgbClr val="C72A0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" id="4"/>
            <p:cNvSpPr/>
            <p:nvPr/>
          </p:nvSpPr>
          <p:spPr>
            <a:xfrm>
              <a:off x="0" y="12700"/>
              <a:ext cx="10575393" cy="0"/>
            </a:xfrm>
            <a:prstGeom prst="line">
              <a:avLst/>
            </a:prstGeom>
            <a:ln cap="flat" w="25400">
              <a:solidFill>
                <a:srgbClr val="C72A09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" id="5"/>
            <p:cNvSpPr/>
            <p:nvPr/>
          </p:nvSpPr>
          <p:spPr>
            <a:xfrm>
              <a:off x="0" y="1926007"/>
              <a:ext cx="10575393" cy="0"/>
            </a:xfrm>
            <a:prstGeom prst="line">
              <a:avLst/>
            </a:prstGeom>
            <a:ln cap="flat" w="25400">
              <a:solidFill>
                <a:srgbClr val="C72A09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6" id="6"/>
          <p:cNvGrpSpPr/>
          <p:nvPr/>
        </p:nvGrpSpPr>
        <p:grpSpPr>
          <a:xfrm rot="0">
            <a:off x="11582568" y="1756989"/>
            <a:ext cx="3086100" cy="3086100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8D88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47625"/>
              <a:ext cx="8128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144000" y="378286"/>
            <a:ext cx="3086100" cy="308610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B8D88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47625"/>
              <a:ext cx="812800" cy="7651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74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980748">
            <a:off x="1741965" y="5985184"/>
            <a:ext cx="5272291" cy="6221303"/>
          </a:xfrm>
          <a:custGeom>
            <a:avLst/>
            <a:gdLst/>
            <a:ahLst/>
            <a:cxnLst/>
            <a:rect r="r" b="b" t="t" l="l"/>
            <a:pathLst>
              <a:path h="6221303" w="5272291">
                <a:moveTo>
                  <a:pt x="0" y="0"/>
                </a:moveTo>
                <a:lnTo>
                  <a:pt x="5272291" y="0"/>
                </a:lnTo>
                <a:lnTo>
                  <a:pt x="5272291" y="6221303"/>
                </a:lnTo>
                <a:lnTo>
                  <a:pt x="0" y="62213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919657" y="6517341"/>
            <a:ext cx="4481363" cy="5481918"/>
          </a:xfrm>
          <a:custGeom>
            <a:avLst/>
            <a:gdLst/>
            <a:ahLst/>
            <a:cxnLst/>
            <a:rect r="r" b="b" t="t" l="l"/>
            <a:pathLst>
              <a:path h="5481918" w="4481363">
                <a:moveTo>
                  <a:pt x="0" y="0"/>
                </a:moveTo>
                <a:lnTo>
                  <a:pt x="4481363" y="0"/>
                </a:lnTo>
                <a:lnTo>
                  <a:pt x="4481363" y="5481918"/>
                </a:lnTo>
                <a:lnTo>
                  <a:pt x="0" y="548191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144000" y="213939"/>
            <a:ext cx="3309777" cy="3653522"/>
          </a:xfrm>
          <a:custGeom>
            <a:avLst/>
            <a:gdLst/>
            <a:ahLst/>
            <a:cxnLst/>
            <a:rect r="r" b="b" t="t" l="l"/>
            <a:pathLst>
              <a:path h="3653522" w="3309777">
                <a:moveTo>
                  <a:pt x="0" y="0"/>
                </a:moveTo>
                <a:lnTo>
                  <a:pt x="3309777" y="0"/>
                </a:lnTo>
                <a:lnTo>
                  <a:pt x="3309777" y="3653521"/>
                </a:lnTo>
                <a:lnTo>
                  <a:pt x="0" y="365352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1464803" y="1728414"/>
            <a:ext cx="3241964" cy="3167436"/>
          </a:xfrm>
          <a:custGeom>
            <a:avLst/>
            <a:gdLst/>
            <a:ahLst/>
            <a:cxnLst/>
            <a:rect r="r" b="b" t="t" l="l"/>
            <a:pathLst>
              <a:path h="3167436" w="3241964">
                <a:moveTo>
                  <a:pt x="0" y="0"/>
                </a:moveTo>
                <a:lnTo>
                  <a:pt x="3241965" y="0"/>
                </a:lnTo>
                <a:lnTo>
                  <a:pt x="3241965" y="3167436"/>
                </a:lnTo>
                <a:lnTo>
                  <a:pt x="0" y="31674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113168" y="596224"/>
            <a:ext cx="3926963" cy="2321528"/>
          </a:xfrm>
          <a:custGeom>
            <a:avLst/>
            <a:gdLst/>
            <a:ahLst/>
            <a:cxnLst/>
            <a:rect r="r" b="b" t="t" l="l"/>
            <a:pathLst>
              <a:path h="2321528" w="3926963">
                <a:moveTo>
                  <a:pt x="0" y="0"/>
                </a:moveTo>
                <a:lnTo>
                  <a:pt x="3926963" y="0"/>
                </a:lnTo>
                <a:lnTo>
                  <a:pt x="3926963" y="2321529"/>
                </a:lnTo>
                <a:lnTo>
                  <a:pt x="0" y="232152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422706" y="623514"/>
            <a:ext cx="7910809" cy="3415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10"/>
              </a:lnSpc>
            </a:pPr>
            <a:r>
              <a:rPr lang="en-US" b="true" sz="10899" spc="-1286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Y   SI   SE PUDIERA  VER  EL  FUTURO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16301" y="4040804"/>
            <a:ext cx="6417214" cy="569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26"/>
              </a:lnSpc>
            </a:pPr>
            <a:r>
              <a:rPr lang="en-US" sz="3304" spc="-294">
                <a:solidFill>
                  <a:srgbClr val="CA0013"/>
                </a:solidFill>
                <a:latin typeface="Inter"/>
                <a:ea typeface="Inter"/>
                <a:cs typeface="Inter"/>
                <a:sym typeface="Inter"/>
              </a:rPr>
              <a:t>¿Qué es lo que relamente se necesita 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446905" y="8505660"/>
            <a:ext cx="5357425" cy="922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08"/>
              </a:lnSpc>
            </a:pPr>
            <a:r>
              <a:rPr lang="en-US" b="true" sz="7321" spc="-219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PATRONES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46905" y="5540464"/>
            <a:ext cx="3442583" cy="874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456"/>
              </a:lnSpc>
            </a:pPr>
            <a:r>
              <a:rPr lang="en-US" b="true" sz="6941" spc="-208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DATOS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46905" y="7010348"/>
            <a:ext cx="6050176" cy="916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713"/>
              </a:lnSpc>
            </a:pPr>
            <a:r>
              <a:rPr lang="en-US" b="true" sz="7219" spc="-216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TENDENCIAS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492391" y="5629084"/>
            <a:ext cx="2112615" cy="120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39"/>
              </a:lnSpc>
            </a:pPr>
            <a:r>
              <a:rPr lang="en-US" sz="3304" spc="-294">
                <a:solidFill>
                  <a:srgbClr val="4E1807"/>
                </a:solidFill>
                <a:latin typeface="Inter"/>
                <a:ea typeface="Inter"/>
                <a:cs typeface="Inter"/>
                <a:sym typeface="Inter"/>
              </a:rPr>
              <a:t>¿Y qué pasa cuando no se tiene?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9485" y="3252432"/>
            <a:ext cx="8051253" cy="2093975"/>
          </a:xfrm>
          <a:custGeom>
            <a:avLst/>
            <a:gdLst/>
            <a:ahLst/>
            <a:cxnLst/>
            <a:rect r="r" b="b" t="t" l="l"/>
            <a:pathLst>
              <a:path h="2093975" w="8051253">
                <a:moveTo>
                  <a:pt x="0" y="0"/>
                </a:moveTo>
                <a:lnTo>
                  <a:pt x="8051253" y="0"/>
                </a:lnTo>
                <a:lnTo>
                  <a:pt x="8051253" y="2093975"/>
                </a:lnTo>
                <a:lnTo>
                  <a:pt x="0" y="20939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694240" y="3272630"/>
            <a:ext cx="8115300" cy="684423"/>
          </a:xfrm>
          <a:custGeom>
            <a:avLst/>
            <a:gdLst/>
            <a:ahLst/>
            <a:cxnLst/>
            <a:rect r="r" b="b" t="t" l="l"/>
            <a:pathLst>
              <a:path h="684423" w="8115300">
                <a:moveTo>
                  <a:pt x="0" y="0"/>
                </a:moveTo>
                <a:lnTo>
                  <a:pt x="8115300" y="0"/>
                </a:lnTo>
                <a:lnTo>
                  <a:pt x="8115300" y="684423"/>
                </a:lnTo>
                <a:lnTo>
                  <a:pt x="0" y="6844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524134" y="4728045"/>
            <a:ext cx="7285406" cy="3480082"/>
          </a:xfrm>
          <a:custGeom>
            <a:avLst/>
            <a:gdLst/>
            <a:ahLst/>
            <a:cxnLst/>
            <a:rect r="r" b="b" t="t" l="l"/>
            <a:pathLst>
              <a:path h="3480082" w="7285406">
                <a:moveTo>
                  <a:pt x="0" y="0"/>
                </a:moveTo>
                <a:lnTo>
                  <a:pt x="7285406" y="0"/>
                </a:lnTo>
                <a:lnTo>
                  <a:pt x="7285406" y="3480082"/>
                </a:lnTo>
                <a:lnTo>
                  <a:pt x="0" y="34800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14947" y="5569810"/>
            <a:ext cx="6192343" cy="3057469"/>
          </a:xfrm>
          <a:custGeom>
            <a:avLst/>
            <a:gdLst/>
            <a:ahLst/>
            <a:cxnLst/>
            <a:rect r="r" b="b" t="t" l="l"/>
            <a:pathLst>
              <a:path h="3057469" w="6192343">
                <a:moveTo>
                  <a:pt x="0" y="0"/>
                </a:moveTo>
                <a:lnTo>
                  <a:pt x="6192343" y="0"/>
                </a:lnTo>
                <a:lnTo>
                  <a:pt x="6192343" y="3057469"/>
                </a:lnTo>
                <a:lnTo>
                  <a:pt x="0" y="305746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611119" y="7094674"/>
            <a:ext cx="6192343" cy="3065210"/>
          </a:xfrm>
          <a:custGeom>
            <a:avLst/>
            <a:gdLst/>
            <a:ahLst/>
            <a:cxnLst/>
            <a:rect r="r" b="b" t="t" l="l"/>
            <a:pathLst>
              <a:path h="3065210" w="6192343">
                <a:moveTo>
                  <a:pt x="0" y="0"/>
                </a:moveTo>
                <a:lnTo>
                  <a:pt x="6192342" y="0"/>
                </a:lnTo>
                <a:lnTo>
                  <a:pt x="6192342" y="3065210"/>
                </a:lnTo>
                <a:lnTo>
                  <a:pt x="0" y="30652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524134" y="8627279"/>
            <a:ext cx="4913106" cy="3573168"/>
          </a:xfrm>
          <a:custGeom>
            <a:avLst/>
            <a:gdLst/>
            <a:ahLst/>
            <a:cxnLst/>
            <a:rect r="r" b="b" t="t" l="l"/>
            <a:pathLst>
              <a:path h="3573168" w="4913106">
                <a:moveTo>
                  <a:pt x="0" y="0"/>
                </a:moveTo>
                <a:lnTo>
                  <a:pt x="4913106" y="0"/>
                </a:lnTo>
                <a:lnTo>
                  <a:pt x="4913106" y="3573168"/>
                </a:lnTo>
                <a:lnTo>
                  <a:pt x="0" y="357316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1533107">
            <a:off x="13336473" y="7337918"/>
            <a:ext cx="6833519" cy="5356850"/>
          </a:xfrm>
          <a:custGeom>
            <a:avLst/>
            <a:gdLst/>
            <a:ahLst/>
            <a:cxnLst/>
            <a:rect r="r" b="b" t="t" l="l"/>
            <a:pathLst>
              <a:path h="5356850" w="6833519">
                <a:moveTo>
                  <a:pt x="6833519" y="0"/>
                </a:moveTo>
                <a:lnTo>
                  <a:pt x="0" y="0"/>
                </a:lnTo>
                <a:lnTo>
                  <a:pt x="0" y="5356850"/>
                </a:lnTo>
                <a:lnTo>
                  <a:pt x="6833519" y="5356850"/>
                </a:lnTo>
                <a:lnTo>
                  <a:pt x="6833519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975263" y="665571"/>
            <a:ext cx="8337475" cy="2329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10"/>
              </a:lnSpc>
            </a:pPr>
            <a:r>
              <a:rPr lang="en-US" b="true" sz="10899" spc="-1286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CÓMO SE SOLUCIONA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19485" y="2724905"/>
            <a:ext cx="2112615" cy="42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39"/>
              </a:lnSpc>
            </a:pPr>
            <a:r>
              <a:rPr lang="en-US" sz="3304" spc="-294">
                <a:solidFill>
                  <a:srgbClr val="4E1807"/>
                </a:solidFill>
                <a:latin typeface="Inter"/>
                <a:ea typeface="Inter"/>
                <a:cs typeface="Inter"/>
                <a:sym typeface="Inter"/>
              </a:rPr>
              <a:t>Estandarizar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696924" y="2724905"/>
            <a:ext cx="2112615" cy="42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39"/>
              </a:lnSpc>
            </a:pPr>
            <a:r>
              <a:rPr lang="en-US" sz="3304" spc="-294">
                <a:solidFill>
                  <a:srgbClr val="4E1807"/>
                </a:solidFill>
                <a:latin typeface="Inter"/>
                <a:ea typeface="Inter"/>
                <a:cs typeface="Inter"/>
                <a:sym typeface="Inter"/>
              </a:rPr>
              <a:t>Limpiar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644292" y="4138028"/>
            <a:ext cx="3165248" cy="42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39"/>
              </a:lnSpc>
            </a:pPr>
            <a:r>
              <a:rPr lang="en-US" sz="3304" spc="-294">
                <a:solidFill>
                  <a:srgbClr val="4E1807"/>
                </a:solidFill>
                <a:latin typeface="Inter"/>
                <a:ea typeface="Inter"/>
                <a:cs typeface="Inter"/>
                <a:sym typeface="Inter"/>
              </a:rPr>
              <a:t>Reestructurar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80321" y="958889"/>
            <a:ext cx="10127358" cy="1243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10"/>
              </a:lnSpc>
            </a:pPr>
            <a:r>
              <a:rPr lang="en-US" b="true" sz="10899" spc="-1286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¿                                                       ?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72467" y="5273816"/>
            <a:ext cx="11301259" cy="3319745"/>
          </a:xfrm>
          <a:custGeom>
            <a:avLst/>
            <a:gdLst/>
            <a:ahLst/>
            <a:cxnLst/>
            <a:rect r="r" b="b" t="t" l="l"/>
            <a:pathLst>
              <a:path h="3319745" w="11301259">
                <a:moveTo>
                  <a:pt x="0" y="0"/>
                </a:moveTo>
                <a:lnTo>
                  <a:pt x="11301259" y="0"/>
                </a:lnTo>
                <a:lnTo>
                  <a:pt x="11301259" y="3319745"/>
                </a:lnTo>
                <a:lnTo>
                  <a:pt x="0" y="331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153668" y="7684325"/>
            <a:ext cx="6877068" cy="2768020"/>
          </a:xfrm>
          <a:custGeom>
            <a:avLst/>
            <a:gdLst/>
            <a:ahLst/>
            <a:cxnLst/>
            <a:rect r="r" b="b" t="t" l="l"/>
            <a:pathLst>
              <a:path h="2768020" w="6877068">
                <a:moveTo>
                  <a:pt x="0" y="0"/>
                </a:moveTo>
                <a:lnTo>
                  <a:pt x="6877067" y="0"/>
                </a:lnTo>
                <a:lnTo>
                  <a:pt x="6877067" y="2768020"/>
                </a:lnTo>
                <a:lnTo>
                  <a:pt x="0" y="27680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1616114" y="6062118"/>
            <a:ext cx="7241317" cy="5225876"/>
          </a:xfrm>
          <a:custGeom>
            <a:avLst/>
            <a:gdLst/>
            <a:ahLst/>
            <a:cxnLst/>
            <a:rect r="r" b="b" t="t" l="l"/>
            <a:pathLst>
              <a:path h="5225876" w="7241317">
                <a:moveTo>
                  <a:pt x="0" y="0"/>
                </a:moveTo>
                <a:lnTo>
                  <a:pt x="7241316" y="0"/>
                </a:lnTo>
                <a:lnTo>
                  <a:pt x="7241316" y="5225877"/>
                </a:lnTo>
                <a:lnTo>
                  <a:pt x="0" y="52258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4600" y="611477"/>
            <a:ext cx="6870406" cy="342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618"/>
              </a:lnSpc>
            </a:pPr>
            <a:r>
              <a:rPr lang="en-US" b="true" sz="10910" spc="-1287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EL OBJETIVO CORRECTO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672467" y="611477"/>
            <a:ext cx="9358447" cy="34160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618"/>
              </a:lnSpc>
            </a:pPr>
            <a:r>
              <a:rPr lang="en-US" b="true" sz="10910" spc="-1287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PARA   LA HERRAMIENTA  PERFECTA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11627" y="4273551"/>
            <a:ext cx="4313575" cy="120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139"/>
              </a:lnSpc>
            </a:pPr>
            <a:r>
              <a:rPr lang="en-US" sz="3304" spc="-294">
                <a:solidFill>
                  <a:srgbClr val="4E1807"/>
                </a:solidFill>
                <a:latin typeface="Inter"/>
                <a:ea typeface="Inter"/>
                <a:cs typeface="Inter"/>
                <a:sym typeface="Inter"/>
              </a:rPr>
              <a:t>¿Que es lo que se quiere saber con lo que se tiene a la mano?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11627" y="5739370"/>
            <a:ext cx="3833479" cy="569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26"/>
              </a:lnSpc>
            </a:pPr>
            <a:r>
              <a:rPr lang="en-US" sz="3304" spc="-294">
                <a:solidFill>
                  <a:srgbClr val="CA0013"/>
                </a:solidFill>
                <a:latin typeface="Inter"/>
                <a:ea typeface="Inter"/>
                <a:cs typeface="Inter"/>
                <a:sym typeface="Inter"/>
              </a:rPr>
              <a:t>El cambio del consumo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45725" y="4273551"/>
            <a:ext cx="4313575" cy="81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39"/>
              </a:lnSpc>
            </a:pPr>
            <a:r>
              <a:rPr lang="en-US" sz="3304" spc="-294">
                <a:solidFill>
                  <a:srgbClr val="4E1807"/>
                </a:solidFill>
                <a:latin typeface="Inter"/>
                <a:ea typeface="Inter"/>
                <a:cs typeface="Inter"/>
                <a:sym typeface="Inter"/>
              </a:rPr>
              <a:t>Un modelo GBM con datos enriquecidos</a:t>
            </a:r>
          </a:p>
        </p:txBody>
      </p:sp>
    </p:spTree>
  </p:cSld>
  <p:clrMapOvr>
    <a:masterClrMapping/>
  </p:clrMapOvr>
  <p:transition spd="slow">
    <p:push dir="r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4517" y="3380362"/>
            <a:ext cx="8325427" cy="4251660"/>
          </a:xfrm>
          <a:custGeom>
            <a:avLst/>
            <a:gdLst/>
            <a:ahLst/>
            <a:cxnLst/>
            <a:rect r="r" b="b" t="t" l="l"/>
            <a:pathLst>
              <a:path h="4251660" w="8325427">
                <a:moveTo>
                  <a:pt x="0" y="0"/>
                </a:moveTo>
                <a:lnTo>
                  <a:pt x="8325427" y="0"/>
                </a:lnTo>
                <a:lnTo>
                  <a:pt x="8325427" y="4251660"/>
                </a:lnTo>
                <a:lnTo>
                  <a:pt x="0" y="42516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739944" y="3923436"/>
            <a:ext cx="8958476" cy="5789415"/>
          </a:xfrm>
          <a:custGeom>
            <a:avLst/>
            <a:gdLst/>
            <a:ahLst/>
            <a:cxnLst/>
            <a:rect r="r" b="b" t="t" l="l"/>
            <a:pathLst>
              <a:path h="5789415" w="8958476">
                <a:moveTo>
                  <a:pt x="0" y="0"/>
                </a:moveTo>
                <a:lnTo>
                  <a:pt x="8958476" y="0"/>
                </a:lnTo>
                <a:lnTo>
                  <a:pt x="8958476" y="5789415"/>
                </a:lnTo>
                <a:lnTo>
                  <a:pt x="0" y="578941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471683" y="7325003"/>
            <a:ext cx="5432302" cy="5539872"/>
          </a:xfrm>
          <a:custGeom>
            <a:avLst/>
            <a:gdLst/>
            <a:ahLst/>
            <a:cxnLst/>
            <a:rect r="r" b="b" t="t" l="l"/>
            <a:pathLst>
              <a:path h="5539872" w="5432302">
                <a:moveTo>
                  <a:pt x="0" y="0"/>
                </a:moveTo>
                <a:lnTo>
                  <a:pt x="5432302" y="0"/>
                </a:lnTo>
                <a:lnTo>
                  <a:pt x="5432302" y="5539871"/>
                </a:lnTo>
                <a:lnTo>
                  <a:pt x="0" y="55398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971113" y="8195107"/>
            <a:ext cx="5432302" cy="5539872"/>
          </a:xfrm>
          <a:custGeom>
            <a:avLst/>
            <a:gdLst/>
            <a:ahLst/>
            <a:cxnLst/>
            <a:rect r="r" b="b" t="t" l="l"/>
            <a:pathLst>
              <a:path h="5539872" w="5432302">
                <a:moveTo>
                  <a:pt x="5432301" y="0"/>
                </a:moveTo>
                <a:lnTo>
                  <a:pt x="0" y="0"/>
                </a:lnTo>
                <a:lnTo>
                  <a:pt x="0" y="5539872"/>
                </a:lnTo>
                <a:lnTo>
                  <a:pt x="5432301" y="5539872"/>
                </a:lnTo>
                <a:lnTo>
                  <a:pt x="5432301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687263" y="874635"/>
            <a:ext cx="10913473" cy="2330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18"/>
              </a:lnSpc>
            </a:pPr>
            <a:r>
              <a:rPr lang="en-US" b="true" sz="10910" spc="-1287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ENTONCES  SÍ  SE PUEDE  LOGRAR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46668" y="1132986"/>
            <a:ext cx="14994665" cy="1243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10"/>
              </a:lnSpc>
            </a:pPr>
            <a:r>
              <a:rPr lang="en-US" b="true" sz="10899" spc="-1286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¿                                                                       ?</a:t>
            </a:r>
          </a:p>
        </p:txBody>
      </p:sp>
    </p:spTree>
  </p:cSld>
  <p:clrMapOvr>
    <a:masterClrMapping/>
  </p:clrMapOvr>
  <p:transition spd="slow">
    <p:push dir="d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739937" y="2878351"/>
            <a:ext cx="5190902" cy="5152308"/>
          </a:xfrm>
          <a:custGeom>
            <a:avLst/>
            <a:gdLst/>
            <a:ahLst/>
            <a:cxnLst/>
            <a:rect r="r" b="b" t="t" l="l"/>
            <a:pathLst>
              <a:path h="5152308" w="5190902">
                <a:moveTo>
                  <a:pt x="0" y="0"/>
                </a:moveTo>
                <a:lnTo>
                  <a:pt x="5190902" y="0"/>
                </a:lnTo>
                <a:lnTo>
                  <a:pt x="5190902" y="5152308"/>
                </a:lnTo>
                <a:lnTo>
                  <a:pt x="0" y="51523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-355804" y="542925"/>
            <a:ext cx="10913473" cy="1244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18"/>
              </a:lnSpc>
            </a:pPr>
            <a:r>
              <a:rPr lang="en-US" b="true" sz="10910" spc="-1287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¿Y AHORA QUE?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802626" y="507812"/>
            <a:ext cx="4313575" cy="81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39"/>
              </a:lnSpc>
            </a:pPr>
            <a:r>
              <a:rPr lang="en-US" sz="3304" spc="-294">
                <a:solidFill>
                  <a:srgbClr val="4E1807"/>
                </a:solidFill>
                <a:latin typeface="Inter"/>
                <a:ea typeface="Inter"/>
                <a:cs typeface="Inter"/>
                <a:sym typeface="Inter"/>
              </a:rPr>
              <a:t>Un cerebro que analice la información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53577" y="9327891"/>
            <a:ext cx="3163622" cy="569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26"/>
              </a:lnSpc>
            </a:pPr>
            <a:r>
              <a:rPr lang="en-US" sz="3304" spc="-294">
                <a:solidFill>
                  <a:srgbClr val="CA0013"/>
                </a:solidFill>
                <a:latin typeface="Inter"/>
                <a:ea typeface="Inter"/>
                <a:cs typeface="Inter"/>
                <a:sym typeface="Inter"/>
              </a:rPr>
              <a:t>Un router dinámico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0077" y="2696045"/>
            <a:ext cx="5768174" cy="107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7"/>
              </a:lnSpc>
            </a:pPr>
            <a:r>
              <a:rPr lang="en-US" sz="4418" spc="-393">
                <a:solidFill>
                  <a:srgbClr val="4E1807"/>
                </a:solidFill>
                <a:latin typeface="Inter"/>
                <a:ea typeface="Inter"/>
                <a:cs typeface="Inter"/>
                <a:sym typeface="Inter"/>
              </a:rPr>
              <a:t>Filtrar si el usuario busca predecir precios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203539" y="2692726"/>
            <a:ext cx="5768174" cy="1083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197"/>
              </a:lnSpc>
            </a:pPr>
            <a:r>
              <a:rPr lang="en-US" sz="4418" spc="-393">
                <a:solidFill>
                  <a:srgbClr val="4E1807"/>
                </a:solidFill>
                <a:latin typeface="Inter"/>
                <a:ea typeface="Inter"/>
                <a:cs typeface="Inter"/>
                <a:sym typeface="Inter"/>
              </a:rPr>
              <a:t>Validar la vigencia de los datos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71763" y="6268624"/>
            <a:ext cx="5768174" cy="1607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197"/>
              </a:lnSpc>
            </a:pPr>
            <a:r>
              <a:rPr lang="en-US" sz="4418" spc="-393">
                <a:solidFill>
                  <a:srgbClr val="4E1807"/>
                </a:solidFill>
                <a:latin typeface="Inter"/>
                <a:ea typeface="Inter"/>
                <a:cs typeface="Inter"/>
                <a:sym typeface="Inter"/>
              </a:rPr>
              <a:t>Determinar si se requiere de una simulación de corto o largo plazo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91126" y="6268624"/>
            <a:ext cx="5768174" cy="1607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4197"/>
              </a:lnSpc>
            </a:pPr>
            <a:r>
              <a:rPr lang="en-US" sz="4418" spc="-393">
                <a:solidFill>
                  <a:srgbClr val="4E1807"/>
                </a:solidFill>
                <a:latin typeface="Inter"/>
                <a:ea typeface="Inter"/>
                <a:cs typeface="Inter"/>
                <a:sym typeface="Inter"/>
              </a:rPr>
              <a:t>Analizar si tiene todos los datos para hacer una predicción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1878739">
            <a:off x="13554954" y="7792464"/>
            <a:ext cx="6833519" cy="5356850"/>
          </a:xfrm>
          <a:custGeom>
            <a:avLst/>
            <a:gdLst/>
            <a:ahLst/>
            <a:cxnLst/>
            <a:rect r="r" b="b" t="t" l="l"/>
            <a:pathLst>
              <a:path h="5356850" w="6833519">
                <a:moveTo>
                  <a:pt x="6833518" y="0"/>
                </a:moveTo>
                <a:lnTo>
                  <a:pt x="0" y="0"/>
                </a:lnTo>
                <a:lnTo>
                  <a:pt x="0" y="5356850"/>
                </a:lnTo>
                <a:lnTo>
                  <a:pt x="6833518" y="5356850"/>
                </a:lnTo>
                <a:lnTo>
                  <a:pt x="6833518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921640">
            <a:off x="-1366985" y="8064594"/>
            <a:ext cx="6833519" cy="5356850"/>
          </a:xfrm>
          <a:custGeom>
            <a:avLst/>
            <a:gdLst/>
            <a:ahLst/>
            <a:cxnLst/>
            <a:rect r="r" b="b" t="t" l="l"/>
            <a:pathLst>
              <a:path h="5356850" w="6833519">
                <a:moveTo>
                  <a:pt x="0" y="0"/>
                </a:moveTo>
                <a:lnTo>
                  <a:pt x="6833518" y="0"/>
                </a:lnTo>
                <a:lnTo>
                  <a:pt x="6833518" y="5356850"/>
                </a:lnTo>
                <a:lnTo>
                  <a:pt x="0" y="53568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01698" y="2147723"/>
            <a:ext cx="10858223" cy="7668620"/>
          </a:xfrm>
          <a:custGeom>
            <a:avLst/>
            <a:gdLst/>
            <a:ahLst/>
            <a:cxnLst/>
            <a:rect r="r" b="b" t="t" l="l"/>
            <a:pathLst>
              <a:path h="7668620" w="10858223">
                <a:moveTo>
                  <a:pt x="0" y="0"/>
                </a:moveTo>
                <a:lnTo>
                  <a:pt x="10858224" y="0"/>
                </a:lnTo>
                <a:lnTo>
                  <a:pt x="10858224" y="7668620"/>
                </a:lnTo>
                <a:lnTo>
                  <a:pt x="0" y="76686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4976508" y="5982033"/>
            <a:ext cx="7241317" cy="5225876"/>
          </a:xfrm>
          <a:custGeom>
            <a:avLst/>
            <a:gdLst/>
            <a:ahLst/>
            <a:cxnLst/>
            <a:rect r="r" b="b" t="t" l="l"/>
            <a:pathLst>
              <a:path h="5225876" w="7241317">
                <a:moveTo>
                  <a:pt x="7241316" y="0"/>
                </a:moveTo>
                <a:lnTo>
                  <a:pt x="0" y="0"/>
                </a:lnTo>
                <a:lnTo>
                  <a:pt x="0" y="5225877"/>
                </a:lnTo>
                <a:lnTo>
                  <a:pt x="7241316" y="5225877"/>
                </a:lnTo>
                <a:lnTo>
                  <a:pt x="7241316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541099" y="7428980"/>
            <a:ext cx="3718201" cy="2858020"/>
          </a:xfrm>
          <a:custGeom>
            <a:avLst/>
            <a:gdLst/>
            <a:ahLst/>
            <a:cxnLst/>
            <a:rect r="r" b="b" t="t" l="l"/>
            <a:pathLst>
              <a:path h="2858020" w="3718201">
                <a:moveTo>
                  <a:pt x="0" y="0"/>
                </a:moveTo>
                <a:lnTo>
                  <a:pt x="3718201" y="0"/>
                </a:lnTo>
                <a:lnTo>
                  <a:pt x="3718201" y="2858020"/>
                </a:lnTo>
                <a:lnTo>
                  <a:pt x="0" y="28580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6191982"/>
            <a:ext cx="4945123" cy="4095018"/>
          </a:xfrm>
          <a:custGeom>
            <a:avLst/>
            <a:gdLst/>
            <a:ahLst/>
            <a:cxnLst/>
            <a:rect r="r" b="b" t="t" l="l"/>
            <a:pathLst>
              <a:path h="4095018" w="4945123">
                <a:moveTo>
                  <a:pt x="0" y="0"/>
                </a:moveTo>
                <a:lnTo>
                  <a:pt x="4945123" y="0"/>
                </a:lnTo>
                <a:lnTo>
                  <a:pt x="4945123" y="4095018"/>
                </a:lnTo>
                <a:lnTo>
                  <a:pt x="0" y="40950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489787" y="1667995"/>
            <a:ext cx="5798213" cy="2623691"/>
          </a:xfrm>
          <a:custGeom>
            <a:avLst/>
            <a:gdLst/>
            <a:ahLst/>
            <a:cxnLst/>
            <a:rect r="r" b="b" t="t" l="l"/>
            <a:pathLst>
              <a:path h="2623691" w="5798213">
                <a:moveTo>
                  <a:pt x="0" y="0"/>
                </a:moveTo>
                <a:lnTo>
                  <a:pt x="5798213" y="0"/>
                </a:lnTo>
                <a:lnTo>
                  <a:pt x="5798213" y="2623691"/>
                </a:lnTo>
                <a:lnTo>
                  <a:pt x="0" y="26236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830810" y="611306"/>
            <a:ext cx="10913473" cy="1244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18"/>
              </a:lnSpc>
            </a:pPr>
            <a:r>
              <a:rPr lang="en-US" b="true" sz="10910" spc="-1287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¿EN DÓNDE?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26906" y="848705"/>
            <a:ext cx="6059989" cy="819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39"/>
              </a:lnSpc>
            </a:pPr>
            <a:r>
              <a:rPr lang="en-US" sz="3304" spc="-294">
                <a:solidFill>
                  <a:srgbClr val="4E1807"/>
                </a:solidFill>
                <a:latin typeface="Inter"/>
                <a:ea typeface="Inter"/>
                <a:cs typeface="Inter"/>
                <a:sym typeface="Inter"/>
              </a:rPr>
              <a:t>Un lugar que abarque todos los rincones del mundo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-2899106" y="201731"/>
            <a:ext cx="5798213" cy="2623691"/>
          </a:xfrm>
          <a:custGeom>
            <a:avLst/>
            <a:gdLst/>
            <a:ahLst/>
            <a:cxnLst/>
            <a:rect r="r" b="b" t="t" l="l"/>
            <a:pathLst>
              <a:path h="2623691" w="5798213">
                <a:moveTo>
                  <a:pt x="0" y="0"/>
                </a:moveTo>
                <a:lnTo>
                  <a:pt x="5798212" y="0"/>
                </a:lnTo>
                <a:lnTo>
                  <a:pt x="5798212" y="2623691"/>
                </a:lnTo>
                <a:lnTo>
                  <a:pt x="0" y="26236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1271307" y="835878"/>
            <a:ext cx="5798213" cy="2623691"/>
          </a:xfrm>
          <a:custGeom>
            <a:avLst/>
            <a:gdLst/>
            <a:ahLst/>
            <a:cxnLst/>
            <a:rect r="r" b="b" t="t" l="l"/>
            <a:pathLst>
              <a:path h="2623691" w="5798213">
                <a:moveTo>
                  <a:pt x="5798213" y="0"/>
                </a:moveTo>
                <a:lnTo>
                  <a:pt x="0" y="0"/>
                </a:lnTo>
                <a:lnTo>
                  <a:pt x="0" y="2623691"/>
                </a:lnTo>
                <a:lnTo>
                  <a:pt x="5798213" y="2623691"/>
                </a:lnTo>
                <a:lnTo>
                  <a:pt x="5798213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r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EEB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91740" y="6734094"/>
            <a:ext cx="5768174" cy="1079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97"/>
              </a:lnSpc>
            </a:pPr>
            <a:r>
              <a:rPr lang="en-US" sz="4418" spc="-393">
                <a:solidFill>
                  <a:srgbClr val="4E1807"/>
                </a:solidFill>
                <a:latin typeface="Inter"/>
                <a:ea typeface="Inter"/>
                <a:cs typeface="Inter"/>
                <a:sym typeface="Inter"/>
              </a:rPr>
              <a:t>¿Porque usar Gemini y LangChain desde cero?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1350449">
            <a:off x="2960050" y="8887724"/>
            <a:ext cx="2141147" cy="2125228"/>
          </a:xfrm>
          <a:custGeom>
            <a:avLst/>
            <a:gdLst/>
            <a:ahLst/>
            <a:cxnLst/>
            <a:rect r="r" b="b" t="t" l="l"/>
            <a:pathLst>
              <a:path h="2125228" w="2141147">
                <a:moveTo>
                  <a:pt x="0" y="0"/>
                </a:moveTo>
                <a:lnTo>
                  <a:pt x="2141147" y="0"/>
                </a:lnTo>
                <a:lnTo>
                  <a:pt x="2141147" y="2125228"/>
                </a:lnTo>
                <a:lnTo>
                  <a:pt x="0" y="21252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978875">
            <a:off x="1620650" y="8130066"/>
            <a:ext cx="2535573" cy="1992388"/>
          </a:xfrm>
          <a:custGeom>
            <a:avLst/>
            <a:gdLst/>
            <a:ahLst/>
            <a:cxnLst/>
            <a:rect r="r" b="b" t="t" l="l"/>
            <a:pathLst>
              <a:path h="1992388" w="2535573">
                <a:moveTo>
                  <a:pt x="0" y="0"/>
                </a:moveTo>
                <a:lnTo>
                  <a:pt x="2535573" y="0"/>
                </a:lnTo>
                <a:lnTo>
                  <a:pt x="2535573" y="1992388"/>
                </a:lnTo>
                <a:lnTo>
                  <a:pt x="0" y="19923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46" t="0" r="-7207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649772">
            <a:off x="431532" y="9004949"/>
            <a:ext cx="2743684" cy="1890778"/>
          </a:xfrm>
          <a:custGeom>
            <a:avLst/>
            <a:gdLst/>
            <a:ahLst/>
            <a:cxnLst/>
            <a:rect r="r" b="b" t="t" l="l"/>
            <a:pathLst>
              <a:path h="1890778" w="2743684">
                <a:moveTo>
                  <a:pt x="0" y="0"/>
                </a:moveTo>
                <a:lnTo>
                  <a:pt x="2743684" y="0"/>
                </a:lnTo>
                <a:lnTo>
                  <a:pt x="2743684" y="1890778"/>
                </a:lnTo>
                <a:lnTo>
                  <a:pt x="0" y="18907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3495001" y="8033789"/>
            <a:ext cx="3080833" cy="2184942"/>
          </a:xfrm>
          <a:custGeom>
            <a:avLst/>
            <a:gdLst/>
            <a:ahLst/>
            <a:cxnLst/>
            <a:rect r="r" b="b" t="t" l="l"/>
            <a:pathLst>
              <a:path h="2184942" w="3080833">
                <a:moveTo>
                  <a:pt x="0" y="0"/>
                </a:moveTo>
                <a:lnTo>
                  <a:pt x="3080832" y="0"/>
                </a:lnTo>
                <a:lnTo>
                  <a:pt x="3080832" y="2184942"/>
                </a:lnTo>
                <a:lnTo>
                  <a:pt x="0" y="218494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true" flipV="false" rot="2208809">
            <a:off x="-2600104" y="-2248604"/>
            <a:ext cx="6508364" cy="6637243"/>
          </a:xfrm>
          <a:custGeom>
            <a:avLst/>
            <a:gdLst/>
            <a:ahLst/>
            <a:cxnLst/>
            <a:rect r="r" b="b" t="t" l="l"/>
            <a:pathLst>
              <a:path h="6637243" w="6508364">
                <a:moveTo>
                  <a:pt x="6508364" y="0"/>
                </a:moveTo>
                <a:lnTo>
                  <a:pt x="0" y="0"/>
                </a:lnTo>
                <a:lnTo>
                  <a:pt x="0" y="6637243"/>
                </a:lnTo>
                <a:lnTo>
                  <a:pt x="6508364" y="6637243"/>
                </a:lnTo>
                <a:lnTo>
                  <a:pt x="6508364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true" flipV="false" rot="-1242192">
            <a:off x="14825043" y="-1737351"/>
            <a:ext cx="6508364" cy="6637243"/>
          </a:xfrm>
          <a:custGeom>
            <a:avLst/>
            <a:gdLst/>
            <a:ahLst/>
            <a:cxnLst/>
            <a:rect r="r" b="b" t="t" l="l"/>
            <a:pathLst>
              <a:path h="6637243" w="6508364">
                <a:moveTo>
                  <a:pt x="6508365" y="0"/>
                </a:moveTo>
                <a:lnTo>
                  <a:pt x="0" y="0"/>
                </a:lnTo>
                <a:lnTo>
                  <a:pt x="0" y="6637242"/>
                </a:lnTo>
                <a:lnTo>
                  <a:pt x="6508365" y="6637242"/>
                </a:lnTo>
                <a:lnTo>
                  <a:pt x="6508365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771665" y="421908"/>
            <a:ext cx="11263752" cy="5079390"/>
          </a:xfrm>
          <a:custGeom>
            <a:avLst/>
            <a:gdLst/>
            <a:ahLst/>
            <a:cxnLst/>
            <a:rect r="r" b="b" t="t" l="l"/>
            <a:pathLst>
              <a:path h="5079390" w="11263752">
                <a:moveTo>
                  <a:pt x="0" y="0"/>
                </a:moveTo>
                <a:lnTo>
                  <a:pt x="11263752" y="0"/>
                </a:lnTo>
                <a:lnTo>
                  <a:pt x="11263752" y="5079389"/>
                </a:lnTo>
                <a:lnTo>
                  <a:pt x="0" y="50793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-1729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687263" y="5323456"/>
            <a:ext cx="10913473" cy="2330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18"/>
              </a:lnSpc>
            </a:pPr>
            <a:r>
              <a:rPr lang="en-US" b="true" sz="10910" spc="-1287">
                <a:solidFill>
                  <a:srgbClr val="CA0013"/>
                </a:solidFill>
                <a:latin typeface="Inter Bold"/>
                <a:ea typeface="Inter Bold"/>
                <a:cs typeface="Inter Bold"/>
                <a:sym typeface="Inter Bold"/>
              </a:rPr>
              <a:t>¿Y  QUE  HAY  DEL FUTURO?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556590" y="4485117"/>
            <a:ext cx="5174820" cy="428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39"/>
              </a:lnSpc>
            </a:pPr>
            <a:r>
              <a:rPr lang="en-US" sz="3304" spc="-294">
                <a:solidFill>
                  <a:srgbClr val="4E1807"/>
                </a:solidFill>
                <a:latin typeface="Inter"/>
                <a:ea typeface="Inter"/>
                <a:cs typeface="Inter"/>
                <a:sym typeface="Inter"/>
              </a:rPr>
              <a:t>¿Esta listo, completo, perfecto?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259913" y="8637014"/>
            <a:ext cx="5768174" cy="1083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7"/>
              </a:lnSpc>
            </a:pPr>
            <a:r>
              <a:rPr lang="en-US" sz="4418" spc="-393">
                <a:solidFill>
                  <a:srgbClr val="4E1807"/>
                </a:solidFill>
                <a:latin typeface="Inter"/>
                <a:ea typeface="Inter"/>
                <a:cs typeface="Inter"/>
                <a:sym typeface="Inter"/>
              </a:rPr>
              <a:t>¿Qué es lo que puede hacer ahora?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294871" y="6734094"/>
            <a:ext cx="5481092" cy="1083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7"/>
              </a:lnSpc>
            </a:pPr>
            <a:r>
              <a:rPr lang="en-US" sz="4418" spc="-393">
                <a:solidFill>
                  <a:srgbClr val="4E1807"/>
                </a:solidFill>
                <a:latin typeface="Inter"/>
                <a:ea typeface="Inter"/>
                <a:cs typeface="Inter"/>
                <a:sym typeface="Inter"/>
              </a:rPr>
              <a:t>¿Podrá hacer más cosas?</a:t>
            </a:r>
          </a:p>
        </p:txBody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DAHKDmpR2XQ</dc:identifier>
  <dcterms:modified xsi:type="dcterms:W3CDTF">2011-08-01T06:04:30Z</dcterms:modified>
  <cp:revision>1</cp:revision>
  <dc:title>PruebaTecnicaHGC</dc:title>
</cp:coreProperties>
</file>